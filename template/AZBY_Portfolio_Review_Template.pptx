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05840"/>
            <a:ext cx="4206240" cy="4206240"/>
          </a:xfrm>
          <a:prstGeom prst="donut">
            <a:avLst/>
          </a:prstGeom>
          <a:solidFill>
            <a:srgbClr val="F2A93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566160"/>
            <a:ext cx="2926080" cy="2926080"/>
          </a:xfrm>
          <a:prstGeom prst="donut">
            <a:avLst/>
          </a:prstGeom>
          <a:solidFill>
            <a:srgbClr val="4A57C4">
              <a:alpha val="16000"/>
            </a:srgbClr>
          </a:solidFill>
          <a:ln/>
        </p:spPr>
      </p:sp>
      <p:pic>
        <p:nvPicPr>
          <p:cNvPr id="4" name="Image 0" descr="/home/user/claude-demo/template/assets/ioni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1737360" cy="302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932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in your journey of wealth creation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Review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58368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58368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₹5.34 Cr reviewed   ·   As of 21 July 2026   ·   Ionic Wealth NDPMS Desk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61264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template — AZBY Family is fictional; all holdings are dummy data for template design.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decision-first review, tiered for the audience in the room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23444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0" y="1691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· gaps up front · mandate · how we score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22037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34440" y="22037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0" y="220370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· concentration · sector &amp; cap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2715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234440" y="27157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Equity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0" y="27157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scored · spotlights · the sells · quality · ESG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32278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234440" y="32278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72000" y="32278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 book · how we evaluate · fund actions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3739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234440" y="37398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0" y="37398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house-view fit · drift · cost · tax · deployment · order sheet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4251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234440" y="4251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Growth &amp; Frontier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0" y="4251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 · stress tests · frontier · projection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47640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234440" y="47640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572000" y="476402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· governance · goal funding · liquidity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" y="5276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234440" y="5276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572000" y="52760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library · registers · methodology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548640" y="5897880"/>
            <a:ext cx="1106424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0"/>
          <p:cNvSpPr/>
          <p:nvPr/>
        </p:nvSpPr>
        <p:spPr>
          <a:xfrm>
            <a:off x="548640" y="6053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→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371600" y="605332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E9E6A"/>
          </a:solidFill>
          <a:ln/>
        </p:spPr>
      </p:sp>
      <p:sp>
        <p:nvSpPr>
          <p:cNvPr id="35" name="Text 32"/>
          <p:cNvSpPr/>
          <p:nvPr/>
        </p:nvSpPr>
        <p:spPr>
          <a:xfrm>
            <a:off x="1682496" y="6035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 — always show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977640" y="605332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B27A3"/>
          </a:solidFill>
          <a:ln/>
        </p:spPr>
      </p:sp>
      <p:sp>
        <p:nvSpPr>
          <p:cNvPr id="37" name="Text 34"/>
          <p:cNvSpPr/>
          <p:nvPr/>
        </p:nvSpPr>
        <p:spPr>
          <a:xfrm>
            <a:off x="4288536" y="6035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— add analytics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583680" y="605332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2A93C"/>
          </a:solidFill>
          <a:ln/>
        </p:spPr>
      </p:sp>
      <p:sp>
        <p:nvSpPr>
          <p:cNvPr id="39" name="Text 36"/>
          <p:cNvSpPr/>
          <p:nvPr/>
        </p:nvSpPr>
        <p:spPr>
          <a:xfrm>
            <a:off x="6894576" y="6035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UHNI — family office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9189720" y="605332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6B7280"/>
          </a:solidFill>
          <a:ln/>
        </p:spPr>
      </p:sp>
      <p:sp>
        <p:nvSpPr>
          <p:cNvPr id="41" name="Text 38"/>
          <p:cNvSpPr/>
          <p:nvPr/>
        </p:nvSpPr>
        <p:spPr>
          <a:xfrm>
            <a:off x="9500616" y="6035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on demand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371600" cy="2385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75520" y="3840480"/>
            <a:ext cx="3108960" cy="3108960"/>
          </a:xfrm>
          <a:prstGeom prst="donut">
            <a:avLst/>
          </a:prstGeom>
          <a:solidFill>
            <a:srgbClr val="F2A93C">
              <a:alpha val="1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family is, the standard we hold the book to, and how we score.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5216" y="436168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Policy Statement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" y="468172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stand vs your policy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5216" y="500176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910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&amp; method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85216" y="532180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230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score a stock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Policy Statement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we hold this book to — standardised by risk profile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4114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horizon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term (7+ years)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objective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wealth creation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objective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growth above inflation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 need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near-term; buffer staged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Non-discretionary (NDPMS)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Core–satellite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cadence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refresh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14813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37760" y="148132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asset allocation — by risk profile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9164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55448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 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equity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55–70%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equity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~25% of eq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&amp; silver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/ arbitrage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45–60%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tilt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low-vol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low-vol+value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low-vol+value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Single-name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&lt;8% of eq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Single-AMC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Single-sector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7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937760" y="48920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Aggressive column is this family's policy; limits reuse the house guidelines applied throughout this review.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02920" y="47091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understanding of the family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02920" y="49377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First-generation promoter family; primary wealth from an operating business. Comfortable with equity risk and a long horizon, with a partial liquidity event anticipated. Priorities: compounding the core, reducing single-name risk, and building the diversifiers the book currently lacks.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stand vs your policy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gaps to close, one strength to keep — surfaced up front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03504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standard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you are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Single-name &lt; 8% of equity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 Company 11.2%; top-10 33.2% of 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Single-AMC &lt; 25% (funds)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fund house 25.4%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equity ~25% of equity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~4.4% of book, developed-market 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&amp; silver 5–10% sleeve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~0.8% (a residual gold FoF), no sized sleeve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holding scores ≥ 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of 76 stocks score &lt; 40 (10.6% by value)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Funds beat benchmark over 3Y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seasoned fund beats its benchmark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summary attaches an action to each gap. Statuses use the house guidelines in the IPS.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sound core carrying avoidable concentration — five gaps, five actions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572768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6F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₹5.34 Cr
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reviewed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3246120" y="1572768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6F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/ 21
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/ schemes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5989320" y="1572768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6F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33.2%
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weight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8732520" y="1572768"/>
            <a:ext cx="2880360" cy="1188720"/>
          </a:xfrm>
          <a:prstGeom prst="roundRect">
            <a:avLst>
              <a:gd name="adj" fmla="val 6154"/>
            </a:avLst>
          </a:prstGeom>
          <a:solidFill>
            <a:srgbClr val="F5F6F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E0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76
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Sell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80360"/>
          <a:ext cx="111556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657600"/>
                <a:gridCol w="33832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we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that closes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33.2%; Titan Company at the single-name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toward &lt; 8% of equity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frees ₹9.5 L; largest name within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stocks score &lt; 40, incl. Reliance at 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Sell programme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₹0.56 Cr proceeds; Sell-weight → 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equity ~4.4% vs ~25%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Redeploy toward foreign equity (direction)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toward the target, 60:40 DM:EM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sized gold / silver sleeve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a small 75:25 sleeve (direction)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the missing diversifier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Funds: AMC 25.4%, a Regular-plan duplicate, sub-scale 2nd small-cap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/ redeem / exit — 3 structural 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→ 19 schemes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02920" y="58064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— </a:t>
            </a:r>
            <a:pPr indent="0" marL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 book is sound: every scheme with a 3-year record beats its benchmark; the three fund actions are structural, not performance. 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Proceeds bridge — ₹0.56 Cr Sells + ₹0.10 Cr trim = ₹0.66 Cr to redeploy; +₹0.21 Cr fund actions = ₹0.87 Cr reorganised.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&amp; method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review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92024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Non-discretionary (NDPMS): we recommend Sell, Trim, Switch, Redeem or Hold on holdings you already own. The model never issues a Buy.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benchmark: the NIFTY-750 cross-sectional percentile (the Ionic Quant Scorecard).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reference: the Ionic Wealth House View, Dec 2025 — the asset-mix we steer toward.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core–satellite means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4279392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(the majority of the book) holds steady, high-quality positions that anchor returns and turn over rarely. Satellites are smaller, deliberate tilts — a sector, a factor, a theme — sized to add return without moving the whole book. Each quarter we test whether every satellite still earns its place; the core changes seldom.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Ionic Score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720840" y="219456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0–100 composite of quality, valuation, growth and momentum, refreshed each quarter on point-in-time data.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over two horizons and blended 0.60 × 3-year + 0.40 × 1-year.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is a Sell below 40; at 40+ it is a Hold. The model issues no Buy.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may argue a Sell up to a Hold — never a Hold down to a Sell.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720840" y="507492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16233B"/>
          </a:solidFill>
          <a:ln/>
        </p:spPr>
      </p:sp>
      <p:sp>
        <p:nvSpPr>
          <p:cNvPr id="17" name="Text 14"/>
          <p:cNvSpPr/>
          <p:nvPr/>
        </p:nvSpPr>
        <p:spPr>
          <a:xfrm>
            <a:off x="6720840" y="5074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every holding must clear
</a:t>
            </a:r>
            <a:pPr algn="ct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 ·  on the binding horizon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score a stock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builds the number; an analyst signs it off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572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pillars, over two horizons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6126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from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durability of the business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ROE, ROCE, margins, accruals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pay for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P/E vs peers and own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+ recent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 &amp; 1Y revenue / earnings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Price-trend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&amp; recent price behaviour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 &amp; 1Y vs the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Sector-macro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tailwind behind the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sector read (0–100)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02920" y="4343400"/>
            <a:ext cx="6126480" cy="1600200"/>
          </a:xfrm>
          <a:prstGeom prst="roundRect">
            <a:avLst>
              <a:gd name="adj" fmla="val 4571"/>
            </a:avLst>
          </a:prstGeom>
          <a:solidFill>
            <a:srgbClr val="EEEFF7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" y="44805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combines.  </a:t>
            </a:r>
            <a:pPr indent="0" marL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is a 0–100 percentile across the NIFTY-750 universe. Horizons blend 0.60×3Y + 0.40×1Y; a name is a Sell below 40 on the binding horizon.  </a:t>
            </a:r>
            <a:pPr indent="0" marL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Balance-sheet gate: </a:t>
            </a:r>
            <a:pPr indent="0" marL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non-financial name is first gated GREEN / AMBER / RED; a RED gate caps quality however strong the other pillars.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858000" y="1874520"/>
            <a:ext cx="4800600" cy="4069080"/>
          </a:xfrm>
          <a:prstGeom prst="roundRect">
            <a:avLst>
              <a:gd name="adj" fmla="val 2247"/>
            </a:avLst>
          </a:prstGeom>
          <a:solidFill>
            <a:srgbClr val="16233B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overlay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132320" y="24505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starts the conversation; it does not end it.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132320" y="297180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name is read by an analyst before it reaches this deck.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can soften a Sell to a Hold on evidence — never harden a Hold to a Sell.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point-in-time and can be stale or wrong; the desk is the check on that.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has no coverage (recent listings, ETFs, demergers) there is no score — we carry those on judgement, not silence.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371600" cy="2385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75520" y="3840480"/>
            <a:ext cx="3108960" cy="3108960"/>
          </a:xfrm>
          <a:prstGeom prst="donut">
            <a:avLst/>
          </a:prstGeom>
          <a:solidFill>
            <a:srgbClr val="F2A93C">
              <a:alpha val="1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sits, and where it is over-concentrated.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5216" y="436168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" y="468172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&amp; risk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5216" y="500176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910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&amp; market-cap positioning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₹5.34 crore, split across direct equity and funds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9" name="Image 1" descr="/home/user/claude-demo/template/assets/charts/donut_split.png">    </p:cNvPr>
          <p:cNvPicPr>
            <a:picLocks noChangeAspect="1"/>
          </p:cNvPicPr>
          <p:nvPr/>
        </p:nvPicPr>
        <p:blipFill>
          <a:blip r:embed="rId2"/>
          <a:srcRect l="-7447" r="-7447" t="0" b="0"/>
          <a:stretch/>
        </p:blipFill>
        <p:spPr>
          <a:xfrm>
            <a:off x="640080" y="1691640"/>
            <a:ext cx="4937760" cy="4297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equity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₹3.01 Cr · 76 stocks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035040" y="2350008"/>
            <a:ext cx="557784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9"/>
          <p:cNvSpPr/>
          <p:nvPr/>
        </p:nvSpPr>
        <p:spPr>
          <a:xfrm>
            <a:off x="6035040" y="2532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229600" y="25328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₹2.32 Cr · 21 schemes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035040" y="3008376"/>
            <a:ext cx="557784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2"/>
          <p:cNvSpPr/>
          <p:nvPr/>
        </p:nvSpPr>
        <p:spPr>
          <a:xfrm>
            <a:off x="6035040" y="31912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position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29600" y="3191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 of book · Titan Company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035040" y="3666744"/>
            <a:ext cx="557784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5"/>
          <p:cNvSpPr/>
          <p:nvPr/>
        </p:nvSpPr>
        <p:spPr>
          <a:xfrm>
            <a:off x="6035040" y="3849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229600" y="38496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Core–satellite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035040" y="4325112"/>
            <a:ext cx="557784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18"/>
          <p:cNvSpPr/>
          <p:nvPr/>
        </p:nvSpPr>
        <p:spPr>
          <a:xfrm>
            <a:off x="6035040" y="4507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229600" y="45079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Aggressive, long horizon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035040" y="4983480"/>
            <a:ext cx="557784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1"/>
          <p:cNvSpPr/>
          <p:nvPr/>
        </p:nvSpPr>
        <p:spPr>
          <a:xfrm>
            <a:off x="6035040" y="5166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Sell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229600" y="5166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stocks · 10.6% by value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035040" y="5641848"/>
            <a:ext cx="5577840" cy="10973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last review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is reviewed every quarter — here is the delta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6F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
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upgrades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3246120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6F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E0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
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downgrades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5989320" y="16002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6F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
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Sell flags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8732520" y="1600200"/>
            <a:ext cx="2880360" cy="1188720"/>
          </a:xfrm>
          <a:prstGeom prst="roundRect">
            <a:avLst>
              <a:gd name="adj" fmla="val 6154"/>
            </a:avLst>
          </a:prstGeom>
          <a:solidFill>
            <a:srgbClr val="F5F6F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
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actions completed</a:t>
            </a:r>
            <a:endParaRPr lang="en-US" sz="2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80360"/>
          <a:ext cx="11155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5852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Bharti Airtel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→ 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55 → 59, momentum firming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→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 growth stalled; crossed below 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HCL Technologies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 → 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 growth firmed to 51; upgraded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Adani Enterprises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→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slowing against the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Coforge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→ 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51 → 56 on the IT re-rating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 Industries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 →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the weakest name; ROE 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 moves to a Sell only on the quarterly refresh, a governance flag, or a breach of the single-name guideline on price alone. Nothing here is permanent.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&amp; risk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ten names carry a third of the book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9" name="Image 1" descr="/home/user/claude-demo/template/assets/charts/concentration_bubble.png">    </p:cNvPr>
          <p:cNvPicPr>
            <a:picLocks noChangeAspect="1"/>
          </p:cNvPicPr>
          <p:nvPr/>
        </p:nvPicPr>
        <p:blipFill>
          <a:blip r:embed="rId2"/>
          <a:srcRect l="-15000" r="-15000" t="0" b="0"/>
          <a:stretch/>
        </p:blipFill>
        <p:spPr>
          <a:xfrm>
            <a:off x="5852160" y="1600200"/>
            <a:ext cx="5943600" cy="457200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52120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914400"/>
                <a:gridCol w="1005840"/>
                <a:gridCol w="8229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single names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single names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name (of equity)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&gt; 8% of equity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AMC (funds)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sector (equity)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02920" y="5029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Single-name rows are measured on the equity sleeve (₹3.01 Cr) — the base that drives the trim. Bubble: colour = call, size = position value.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&amp; market-cap positioning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large-cap book; two sectors lead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exposure</a:t>
            </a:r>
            <a:endParaRPr lang="en-US" sz="1250" dirty="0"/>
          </a:p>
        </p:txBody>
      </p:sp>
      <p:pic>
        <p:nvPicPr>
          <p:cNvPr id="10" name="Image 1" descr="/home/user/claude-demo/template/assets/charts/sector_bar.png">    </p:cNvPr>
          <p:cNvPicPr>
            <a:picLocks noChangeAspect="1"/>
          </p:cNvPicPr>
          <p:nvPr/>
        </p:nvPicPr>
        <p:blipFill>
          <a:blip r:embed="rId2"/>
          <a:srcRect l="-29762" r="-29762" t="0" b="0"/>
          <a:stretch/>
        </p:blipFill>
        <p:spPr>
          <a:xfrm>
            <a:off x="320040" y="1828800"/>
            <a:ext cx="6126480" cy="3840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Market-cap split</a:t>
            </a:r>
            <a:endParaRPr lang="en-US" sz="1250" dirty="0"/>
          </a:p>
        </p:txBody>
      </p:sp>
      <p:pic>
        <p:nvPicPr>
          <p:cNvPr id="12" name="Image 2" descr="/home/user/claude-demo/template/assets/charts/mcap_bar.png">    </p:cNvPr>
          <p:cNvPicPr>
            <a:picLocks noChangeAspect="1"/>
          </p:cNvPicPr>
          <p:nvPr/>
        </p:nvPicPr>
        <p:blipFill>
          <a:blip r:embed="rId3"/>
          <a:srcRect l="-153571" r="-153571" t="0" b="0"/>
          <a:stretch/>
        </p:blipFill>
        <p:spPr>
          <a:xfrm>
            <a:off x="6492240" y="1965960"/>
            <a:ext cx="5212080" cy="12801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675120" y="3566160"/>
            <a:ext cx="4937760" cy="2286000"/>
          </a:xfrm>
          <a:prstGeom prst="roundRect">
            <a:avLst>
              <a:gd name="adj" fmla="val 3200"/>
            </a:avLst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903720" y="37490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Scope.  </a:t>
            </a:r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equity only (₹3.01 Cr, 76 stocks). The ₹2.32 Cr fund book (43.5% of the portfolio) is not in these charts; its stock-level constituents are not available, so fund exposure is read at category level (Section 04).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903720" y="48920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large-cap core lowers volatility and liquidity risk; under 5% sits in mid/small, leaving room to add diversified SMID if more growth beta is wanted.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371600" cy="2385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75520" y="3840480"/>
            <a:ext cx="3108960" cy="3108960"/>
          </a:xfrm>
          <a:prstGeom prst="donut">
            <a:avLst/>
          </a:prstGeom>
          <a:solidFill>
            <a:srgbClr val="F2A93C">
              <a:alpha val="1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Equity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names, one bar to clear: a score of forty.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5216" y="436168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book, scored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" y="468172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equity book (treemap)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5216" y="500176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910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85216" y="532180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230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we would sell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85216" y="564184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550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vs price · factor profile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book, scored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stocks; 15 fall below the line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9" name="Image 1" descr="/home/user/claude-demo/template/assets/charts/score_hist.png">    </p:cNvPr>
          <p:cNvPicPr>
            <a:picLocks noChangeAspect="1"/>
          </p:cNvPicPr>
          <p:nvPr/>
        </p:nvPicPr>
        <p:blipFill>
          <a:blip r:embed="rId2"/>
          <a:srcRect l="-76744" r="-76744" t="0" b="0"/>
          <a:stretch/>
        </p:blipFill>
        <p:spPr>
          <a:xfrm>
            <a:off x="1097280" y="1783080"/>
            <a:ext cx="9966960" cy="3931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76 names score below 40 (10.6% of the book by value). Bars left of the amber line are the Sell zone; the score shown is the binding, lower-horizon read.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equity book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rupee sits, and what the scorecard says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9" name="Image 1" descr="/home/user/claude-demo/template/assets/charts/treemap.png">    </p:cNvPr>
          <p:cNvPicPr>
            <a:picLocks noChangeAspect="1"/>
          </p:cNvPicPr>
          <p:nvPr/>
        </p:nvPicPr>
        <p:blipFill>
          <a:blip r:embed="rId2"/>
          <a:srcRect l="-69792" r="-69792" t="0" b="0"/>
          <a:stretch/>
        </p:blipFill>
        <p:spPr>
          <a:xfrm>
            <a:off x="822960" y="1691640"/>
            <a:ext cx="1051560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6080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area = share of the total portfolio; colour = call.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holding we keep, and the largest we would sell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9" name="Image 1" descr="/home/user/claude-demo/template/assets/charts/radar_titan.png">    </p:cNvPr>
          <p:cNvPicPr>
            <a:picLocks noChangeAspect="1"/>
          </p:cNvPicPr>
          <p:nvPr/>
        </p:nvPicPr>
        <p:blipFill>
          <a:blip r:embed="rId2"/>
          <a:srcRect l="0" r="0" t="-4545" b="-4545"/>
          <a:stretch/>
        </p:blipFill>
        <p:spPr>
          <a:xfrm>
            <a:off x="320040" y="2148840"/>
            <a:ext cx="3017520" cy="3291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Company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429000" y="2331720"/>
            <a:ext cx="1097280" cy="292608"/>
          </a:xfrm>
          <a:prstGeom prst="roundRect">
            <a:avLst>
              <a:gd name="adj" fmla="val 4375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29000" y="27249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 of book · score 49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31.5% · 80.9x P/E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429000" y="3337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Highest-conviction core holding: quality and growth are among the best in the book. The one caution is valuation and sheer position size — so we watch the weight and trim toward the guideline rather than add.</a:t>
            </a:r>
            <a:endParaRPr lang="en-US" sz="1100" dirty="0"/>
          </a:p>
        </p:txBody>
      </p:sp>
      <p:pic>
        <p:nvPicPr>
          <p:cNvPr id="14" name="Image 2" descr="/home/user/claude-demo/template/assets/charts/radar_reliance.png">    </p:cNvPr>
          <p:cNvPicPr>
            <a:picLocks noChangeAspect="1"/>
          </p:cNvPicPr>
          <p:nvPr/>
        </p:nvPicPr>
        <p:blipFill>
          <a:blip r:embed="rId3"/>
          <a:srcRect l="0" r="0" t="-4545" b="-4545"/>
          <a:stretch/>
        </p:blipFill>
        <p:spPr>
          <a:xfrm>
            <a:off x="6035040" y="2148840"/>
            <a:ext cx="3017520" cy="32918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9144000" y="2331720"/>
            <a:ext cx="1097280" cy="292608"/>
          </a:xfrm>
          <a:prstGeom prst="roundRect">
            <a:avLst>
              <a:gd name="adj" fmla="val 43750"/>
            </a:avLst>
          </a:prstGeom>
          <a:solidFill>
            <a:srgbClr val="E040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144000" y="27249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 of book · score 29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9.5% · 23.5x P/E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9144000" y="333756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second-largest single holding, and the scorecard flags it a Sell: quality and price-trend are weak, and ROE is thin for a name this size. We would reduce toward a normal weight and redeploy into stronger core names.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we would sell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names below the line — about ₹0.56 Cr of proceeds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468880"/>
                <a:gridCol w="731520"/>
                <a:gridCol w="731520"/>
                <a:gridCol w="3657600"/>
                <a:gridCol w="3108960"/>
              </a:tblGrid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reason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 Industries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price trend; quality below peers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size risk, not quality; reduce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Larsen &amp; Toubro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headwind; weak price trend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sector headwind; exit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Adani Enterprises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slowing growth; soft recent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growth slowing vs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price trend; sector headwind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cheap for a 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recent growth; weak price trend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growth stalled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India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slowing growth; soft recent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growth not translating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Godrej Consumer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slowing growth; quality below peers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quality gap at the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Financial Svcs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price trend; soft recent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trend weak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Consumer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below peers; weak price trend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thin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Jubilant Foodworks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headwind; weak price trend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QSR headwind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 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headwind; quality below peers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quality vs multiple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below peers; sector headwind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not yet profitable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Financial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below peers; weak price trend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growth real, profitability isn't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Varun Beverages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price trend; soft recent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trend soft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 Industries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recent growth; slowing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 — weakest name in 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names · 10.6% of book · est. proceeds ₹0.56 Cr. Full per-name rationale in the holdings annexure (appendix).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versus price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paying fair prices for the quality we own?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9" name="Image 1" descr="/home/user/claude-demo/template/assets/charts/quality_price.png">    </p:cNvPr>
          <p:cNvPicPr>
            <a:picLocks noChangeAspect="1"/>
          </p:cNvPicPr>
          <p:nvPr/>
        </p:nvPicPr>
        <p:blipFill>
          <a:blip r:embed="rId2"/>
          <a:srcRect l="-36000" r="-36000" t="0" b="0"/>
          <a:stretch/>
        </p:blipFill>
        <p:spPr>
          <a:xfrm>
            <a:off x="640080" y="1691640"/>
            <a:ext cx="7863840" cy="4572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quadrants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595360" y="219456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holding on quality (ROE) against valuation (P/E); bubble size is position value, colour is the call. The names to question sit bottom-right — expensive for the quality they deliver. Green Holds cluster top-left; red Sells lean expensive-and-mediocre.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book's factor profile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equity book scores across the pillars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9" name="Image 1" descr="/home/user/claude-demo/template/assets/charts/factor_radar.png">    </p:cNvPr>
          <p:cNvPicPr>
            <a:picLocks noChangeAspect="1"/>
          </p:cNvPicPr>
          <p:nvPr/>
        </p:nvPicPr>
        <p:blipFill>
          <a:blip r:embed="rId2"/>
          <a:srcRect l="-4167" r="-4167" t="0" b="0"/>
          <a:stretch/>
        </p:blipFill>
        <p:spPr>
          <a:xfrm>
            <a:off x="822960" y="1737360"/>
            <a:ext cx="47548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profile says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035040" y="228600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across the equity book, the strongest pillar is quality (65.8) and the weakest is price-trend (31.1). A quality-led, trend-light profile is consistent with a large-cap growth book; it also explains why a stretch in price-trend is a common reason names fall below the line. The dashed ring marks the market average (50).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&amp; responsibility profile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equity book sits on environmental, social and governance quality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ESG tier (share of the equity book)</a:t>
            </a:r>
            <a:endParaRPr lang="en-US" sz="1250" dirty="0"/>
          </a:p>
        </p:txBody>
      </p:sp>
      <p:pic>
        <p:nvPicPr>
          <p:cNvPr id="10" name="Image 1" descr="/home/user/claude-demo/template/assets/charts/esg_bar.png">    </p:cNvPr>
          <p:cNvPicPr>
            <a:picLocks noChangeAspect="1"/>
          </p:cNvPicPr>
          <p:nvPr/>
        </p:nvPicPr>
        <p:blipFill>
          <a:blip r:embed="rId2"/>
          <a:srcRect l="-250000" r="-250000" t="0" b="0"/>
          <a:stretch/>
        </p:blipFill>
        <p:spPr>
          <a:xfrm>
            <a:off x="365760" y="1920240"/>
            <a:ext cx="8229600" cy="1371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69680" y="1600200"/>
            <a:ext cx="2788920" cy="4297680"/>
          </a:xfrm>
          <a:prstGeom prst="roundRect">
            <a:avLst>
              <a:gd name="adj" fmla="val 2623"/>
            </a:avLst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0982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it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098280" y="214884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ratings are third-party, blended with our own governance read. Leaders can be held with confidence; laggards are flagged for engagement or review, not an automatic sell — the Ionic Score still governs the call.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— held with confidence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02920" y="39776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Company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Bharti Airtel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MotoCorp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0916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review / engagement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09160" y="39776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Adani Enterprises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Coal-linked utilities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Balrampur Chini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Industries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ESG tiers for template design; a live review sources ratings from the client's chosen ESG provider.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371600" cy="2385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75520" y="3840480"/>
            <a:ext cx="3108960" cy="3108960"/>
          </a:xfrm>
          <a:prstGeom prst="donut">
            <a:avLst/>
          </a:prstGeom>
          <a:solidFill>
            <a:srgbClr val="F2A93C">
              <a:alpha val="1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₹2.32 crore across 21 schemes — judged on more than alpha.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5216" y="436168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 book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" y="468172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evaluate equity funds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5216" y="500176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910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evaluate hybrids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85216" y="532180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230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× allocation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85216" y="564184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550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fund actions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 book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₹2.32 crore across 21 schemes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5029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Thematic-Infra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Hybrid-Multi 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Hybrid-Arbitrage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Hybrid-BAF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03504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fund house</a:t>
            </a:r>
            <a:endParaRPr lang="en-US" sz="12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74520"/>
          <a:ext cx="5029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HSBC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Franklin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PPFAS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Prudential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Motilal Oswal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50292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fund house 25.4% (guideline &lt; 25%). Only the seasoned schemes carry a 3-year record; the rest are too young, passive, international or cash-like to score on alpha alone — so we judge them on the frameworks that follow.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evaluate equity funds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+ consistency, over the house category rules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9" name="Image 1" descr="/home/user/claude-demo/template/assets/charts/capture_scatter.png">    </p:cNvPr>
          <p:cNvPicPr>
            <a:picLocks noChangeAspect="1"/>
          </p:cNvPicPr>
          <p:nvPr/>
        </p:nvPicPr>
        <p:blipFill>
          <a:blip r:embed="rId2"/>
          <a:srcRect l="-30000" r="-30000" t="0" b="0"/>
          <a:stretch/>
        </p:blipFill>
        <p:spPr>
          <a:xfrm>
            <a:off x="320040" y="1737360"/>
            <a:ext cx="6583680" cy="411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 rules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086600" y="21488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 </a:t>
            </a:r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 cap · factor/passive (value, low-vol) · index.
</a:t>
            </a:r>
            <a:pPr indent="0" marL="0">
              <a:buNone/>
            </a:pPr>
            <a:r>
              <a:rPr lang="en-US" sz="1150" b="1" dirty="0">
                <a:solidFill>
                  <a:srgbClr val="E0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Dis-preferred:  </a:t>
            </a:r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cap (forced cap quotas) and active large-cap (persistent alpha is rare — prefer factor/passive).
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 prefers if it loses less downside (capture &lt; 100), beats its benchmark in ≥ 60% of rolling windows, and sits in a preferred category. It is replaced on the opposite.</a:t>
            </a:r>
            <a:endParaRPr lang="en-US" sz="1150" dirty="0"/>
          </a:p>
        </p:txBody>
      </p:sp>
      <p:pic>
        <p:nvPicPr>
          <p:cNvPr id="12" name="Image 2" descr="/home/user/claude-demo/template/assets/charts/rolling_consistency.png">    </p:cNvPr>
          <p:cNvPicPr>
            <a:picLocks noChangeAspect="1"/>
          </p:cNvPicPr>
          <p:nvPr/>
        </p:nvPicPr>
        <p:blipFill>
          <a:blip r:embed="rId3"/>
          <a:srcRect l="-85000" r="-85000" t="0" b="0"/>
          <a:stretch/>
        </p:blipFill>
        <p:spPr>
          <a:xfrm>
            <a:off x="6858000" y="4343400"/>
            <a:ext cx="4937760" cy="1828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0040" y="59436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book: Nippon (Multi cap) is switched despite strong alpha; the value index funds are kept (value is house-favoured); momentum index funds are held but watched (momentum is on hold).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evaluate hybrids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return, drawdown, and the worst rolling year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9" name="Image 1" descr="/home/user/claude-demo/template/assets/charts/hybrid_risk.png">    </p:cNvPr>
          <p:cNvPicPr>
            <a:picLocks noChangeAspect="1"/>
          </p:cNvPicPr>
          <p:nvPr/>
        </p:nvPicPr>
        <p:blipFill>
          <a:blip r:embed="rId2"/>
          <a:srcRect l="-36364" r="-36364" t="0" b="0"/>
          <a:stretch/>
        </p:blipFill>
        <p:spPr>
          <a:xfrm>
            <a:off x="365760" y="1783080"/>
            <a:ext cx="6949440" cy="4023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98080" y="1828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2668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alpha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26680" y="2331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Hybrids exist to shape risk, not to beat an equity benchmark on return. We judge them on: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726680" y="30632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 — Sharpe and Sortino above the category median.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— meaningfully shallower than pure equity; arbitrage ≈ 0.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rolling-1Y — contained; an arbitrage fund should never print negative.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726680" y="5029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Regular-plan ICICI holding has risk identical to the Direct plan already held — so the only differentiator is the trail cost. That is a redeem, not a risk call.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× allocation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fund's quality is read against whether its sleeve is over- or under-weight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22960" y="2103120"/>
            <a:ext cx="4937760" cy="1691640"/>
          </a:xfrm>
          <a:prstGeom prst="roundRect">
            <a:avLst>
              <a:gd name="adj" fmla="val 3243"/>
            </a:avLst>
          </a:prstGeom>
          <a:solidFill>
            <a:srgbClr val="E0F2EA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24028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— top up with redeployment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Flexicap (flexi, under-weight)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103120"/>
            <a:ext cx="4937760" cy="1691640"/>
          </a:xfrm>
          <a:prstGeom prst="roundRect">
            <a:avLst>
              <a:gd name="adj" fmla="val 3243"/>
            </a:avLst>
          </a:prstGeom>
          <a:solidFill>
            <a:srgbClr val="EEEFF7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224028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 primary, trim the sleeve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carries a trimmed small-cap sleeve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3977640"/>
            <a:ext cx="4937760" cy="1691640"/>
          </a:xfrm>
          <a:prstGeom prst="roundRect">
            <a:avLst>
              <a:gd name="adj" fmla="val 3243"/>
            </a:avLst>
          </a:prstGeom>
          <a:solidFill>
            <a:srgbClr val="EEEFF7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1148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— re-select, don't just add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(under-weight &amp; under-3Y)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3977640"/>
            <a:ext cx="4937760" cy="1691640"/>
          </a:xfrm>
          <a:prstGeom prst="roundRect">
            <a:avLst>
              <a:gd name="adj" fmla="val 3243"/>
            </a:avLst>
          </a:prstGeom>
          <a:solidFill>
            <a:srgbClr val="FBE3E0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41148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FIRST — weak fund, over-weight sleeve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Bandhan small-cap · Nippon multi-cap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under-weight  ·  fund strong ▲ upper / weak ▼ lower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4360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over-weight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exits are the bottom-right cell (weak funds in over-weight sleeves); the redeployment fills the under-weight sleeves — international, value, flexi, and the absent gold/silver.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fund actions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not performance — each named against the framework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7830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0116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Nippon India Multi Cap → Flexi cap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1520" y="32461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on performance (+9.4pp alpha) but fails on category: multi-cap's forced cap quotas remove the manager's cap-sizing — the flexibility the Flexi &gt; Multi rule keeps. Moves a stub toward an under-weight preferred sleeve.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97680" y="17830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6280" y="20116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F2A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2628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Multi-Asset (Regular) → Direct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26280" y="32461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 are identical to the Direct plan already held; the only difference is the Regular-plan trail — a permanent cost with no risk offset. Pure cost cleanup; sleeve weight unchanged.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92440" y="17830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20116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E040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32104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Bandhan Small Cap → HSBC carries it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321040" y="32461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passes on performance; fails on overlay — small-cap is the most over-weight sleeve and a sub-scale second fund adds cost and mechanical overlap. Re-test HSBC vs Bandhan at Q3 before finalising the primary.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overlap — pending look-through: stock-level holdings are not yet available for the equity schemes, so we flag it as a data gap rather than force a grid from mismatched index lists. The redundancy worth removing is already above.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371600" cy="2385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75520" y="3840480"/>
            <a:ext cx="3108960" cy="3108960"/>
          </a:xfrm>
          <a:prstGeom prst="donut">
            <a:avLst/>
          </a:prstGeom>
          <a:solidFill>
            <a:srgbClr val="F2A93C">
              <a:alpha val="1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sells, the fund actions, the cost, the tax, and where the money goes.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5216" y="436168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House-view fit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" y="468172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pay today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5216" y="500176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910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impact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85216" y="532180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230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85216" y="564184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550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· order sheet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House-view fit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closes the gaps against the house view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2194560"/>
                <a:gridCol w="274320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view (Dec 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plan does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equity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Incrementally positive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Core, large-cap heavy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concentration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equity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~25% of equity, 60:40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~4.4% of book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up via redeployment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&amp; silver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Positive, 75:25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sized sleeve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small sleeve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 factor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passively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new momentum adds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Low-vol /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Favoured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Value-light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Redeploy Sell proceeds 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5394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redeployment plan (two slides on) fills the two GAP rows with sized, sequenced allocation direction.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drift &amp; rebalancing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book has drifted from policy, and the bands that trigger a rebalance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pic>
        <p:nvPicPr>
          <p:cNvPr id="9" name="Image 1" descr="/home/user/claude-demo/template/assets/charts/drift_bars.png">    </p:cNvPr>
          <p:cNvPicPr>
            <a:picLocks noChangeAspect="1"/>
          </p:cNvPicPr>
          <p:nvPr/>
        </p:nvPicPr>
        <p:blipFill>
          <a:blip r:embed="rId2"/>
          <a:srcRect l="-33696" r="-33696" t="0" b="0"/>
          <a:stretch/>
        </p:blipFill>
        <p:spPr>
          <a:xfrm>
            <a:off x="274320" y="1783080"/>
            <a:ext cx="7040880" cy="4206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52360" y="178308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096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policy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680960" y="23317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a sleeve when it drifts more than ±5 percentage points from its policy weight, or at the quarterly review — whichever comes first.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moves from the Sell proceeds and the anticipated liquidity event, staged to manage entry and tax.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452360" y="42976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chart.  </a:t>
            </a:r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equity is the one materially over-weight sleeve; foreign equity and gold are the biggest shortfalls. The plan's redeployment closes exactly these gaps — the same story as house-view fit, expressed as drift.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pay today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book is already low-cost; the saving is consolidation + one transparent fee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6583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280160"/>
                <a:gridCol w="1280160"/>
                <a:gridCol w="8229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TER — Direct plans (20 schemes)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₹2.30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wtd [to source]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source]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[src]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TER — Regular-plan trail (1 scheme)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₹0.05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source]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source]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[src]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equity (self-held, 76 stocks)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₹3.01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 ongoing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/ PMS fee (if any today)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₹5.34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source]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source]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[src]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all-in recurring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source]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[src]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315200" y="1828800"/>
            <a:ext cx="4343400" cy="2926080"/>
          </a:xfrm>
          <a:prstGeom prst="roundRect">
            <a:avLst>
              <a:gd name="adj" fmla="val 3125"/>
            </a:avLst>
          </a:prstGeom>
          <a:solidFill>
            <a:srgbClr val="16233B"/>
          </a:solidFill>
          <a:ln/>
        </p:spPr>
      </p:sp>
      <p:sp>
        <p:nvSpPr>
          <p:cNvPr id="11" name="Text 7"/>
          <p:cNvSpPr/>
          <p:nvPr/>
        </p:nvSpPr>
        <p:spPr>
          <a:xfrm>
            <a:off x="7543800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CoPilot saves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543800" y="2395728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is already ~99.5% direct plans — so plan conversion is a small win (one ₹0.05 Cr line).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saving is consolidating 21 → 19 schemes, removing duplicated exposure, and folding a fragmented fee base into one transparent CoPilot fee.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[to source] rate is confirmed against the latest factsheets and the CoPilot fee schedule before dealing. Cost and tax are shown on separate slides so neither double-counts the other.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impact of the plan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actions trigger, how we minimise it, and the file that unlocks the equity estimate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framework (FY26-27; confirm with adviser): equity LTCG (&gt;12m) 12.5% above the ₹1.25 L annual exemption; STCG 20%. A switch is a redemption for tax.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1097280"/>
                <a:gridCol w="118872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Multi-Cap (switch)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LTCG 12.5%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= redemption for tax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Multi-Asset Regular (redeem)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STCG 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to Direct; check net-of-tax vs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Bandhan Small-Cap (exit)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LTCG 12.5%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ticket, low tax drag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Direct-equity Sells + Titan trim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lots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computable until demat trade file is shared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35240" y="20574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EEFF7"/>
          </a:solidFill>
          <a:ln/>
        </p:spPr>
      </p:sp>
      <p:sp>
        <p:nvSpPr>
          <p:cNvPr id="12" name="Text 8"/>
          <p:cNvSpPr/>
          <p:nvPr/>
        </p:nvSpPr>
        <p:spPr>
          <a:xfrm>
            <a:off x="786384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Tax-aware sequence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863840" y="254203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FY: book losses first (harvest), then LTCG up to ₹1.25 L tax-free, then the high-conviction Sells regardless of tax.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FY: remaining LTCG sells + the Titan trim, on a fresh exemption.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635240" y="40233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16233B"/>
          </a:solidFill>
          <a:ln/>
        </p:spPr>
      </p:sp>
      <p:sp>
        <p:nvSpPr>
          <p:cNvPr id="15" name="Text 11"/>
          <p:cNvSpPr/>
          <p:nvPr/>
        </p:nvSpPr>
        <p:spPr>
          <a:xfrm>
            <a:off x="7863840" y="41605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closes this gap.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demat trade file (acquisition dates + costs per lot) and the next review computes exact per-lot STCG/LTCG, finalises the harvest set, and locks the two-FY sequence. Until then the equity tax figure is intentionally blank, not guessed.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where the money moves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freed has a destination, and every destination has a reason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  <p:pic>
        <p:nvPicPr>
          <p:cNvPr id="9" name="Image 1" descr="/home/user/claude-demo/template/assets/charts/sankey_deploy.png">    </p:cNvPr>
          <p:cNvPicPr>
            <a:picLocks noChangeAspect="1"/>
          </p:cNvPicPr>
          <p:nvPr/>
        </p:nvPicPr>
        <p:blipFill>
          <a:blip r:embed="rId2"/>
          <a:srcRect l="-22917" r="-22917" t="0" b="0"/>
          <a:stretch/>
        </p:blipFill>
        <p:spPr>
          <a:xfrm>
            <a:off x="274320" y="1691640"/>
            <a:ext cx="6400800" cy="4389120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783080"/>
          <a:ext cx="49377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40080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Low-vol / value domestic equity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Favoured style tilt; the book is value-light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equity (60:40 DM:EM)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open gap vs the ~25%-of-equity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&amp; silver sleeve (75:25)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sized sleeve today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buffer (staged)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Freed cash is never assumed fully invested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720840" y="4572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Proceeds bridge.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₹0.56 Cr Sells + ₹0.10 Cr Titan trim = ₹0.66 Cr cash to redeploy. The ₹0.21 Cr of fund actions recirculates inside the fund book (not new-sleeve cash); total reorganised ₹0.87 Cr.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274320" y="61722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as allocation direction for freed cash, actioned on your instruction — no specific security is recommended for purchase (non-discretionary mandate).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book, before and after the plan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920240"/>
          <a:ext cx="92354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3774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/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single name (of equity)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 (guideline)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Sell-rated weight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weight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toward &lt; 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Regular-plan fund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holding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Foreign-equity share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toward 25% of equity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schemes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1463040" y="5577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values are guidelines or house-view targets, not forecasts of return.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sheet — sequenced and tax-aware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2743200"/>
                <a:gridCol w="3108960"/>
                <a:gridCol w="82296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Proceeds 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 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Toward the single-name guideline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Low-vol /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 Industries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exit, scored 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Low-vol /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further Sell names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Scored below 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Redeploy per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7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Multi-Cap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Reshape to flexi-cap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Flexi-cap fund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7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Multi-Asset (Regular)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Duplicate, costlier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Direct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Bandhan Small-Cap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Sub-scale duplicate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small-cap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reorganised  ₹87.1 L (₹0.87 Cr).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with client on  ____________________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sells tax-aware per the tax slide; amounts indicative pending dealing. Non-discretionary — actioned on your instruction.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371600" cy="2385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75520" y="3840480"/>
            <a:ext cx="3108960" cy="3108960"/>
          </a:xfrm>
          <a:prstGeom prst="donut">
            <a:avLst/>
          </a:prstGeom>
          <a:solidFill>
            <a:srgbClr val="F2A93C">
              <a:alpha val="1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Growth &amp; Frontier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risk the book carries, how it behaves under stress, and where it could grow.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5216" y="436168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analytics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" y="468172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&amp; scenario analysis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5216" y="500176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910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set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85216" y="532180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230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projection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analytics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risk the book carries, and of what kind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2194560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Annualised volatility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for an aggressive equity 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vs Nifty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broadly with the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per unit of total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Sortino 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per unit of downside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drawdown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peak-to-trough over the 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1-month VaR (95%)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not expected to be exceeded 19 months in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risk vs the reference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35508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return by sleeve</a:t>
            </a:r>
            <a:endParaRPr lang="en-US" sz="1250" dirty="0"/>
          </a:p>
        </p:txBody>
      </p:sp>
      <p:pic>
        <p:nvPicPr>
          <p:cNvPr id="11" name="Image 1" descr="/home/user/claude-demo/template/assets/charts/risk_return_sleeve.png">    </p:cNvPr>
          <p:cNvPicPr>
            <a:picLocks noChangeAspect="1"/>
          </p:cNvPicPr>
          <p:nvPr/>
        </p:nvPicPr>
        <p:blipFill>
          <a:blip r:embed="rId2"/>
          <a:srcRect l="-16667" r="-16667" t="0" b="0"/>
          <a:stretch/>
        </p:blipFill>
        <p:spPr>
          <a:xfrm>
            <a:off x="6217920" y="18745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&amp; scenario analysis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book behaves in historical and hypothetical shocks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00" dirty="0"/>
          </a:p>
        </p:txBody>
      </p:sp>
      <p:pic>
        <p:nvPicPr>
          <p:cNvPr id="9" name="Image 1" descr="/home/user/claude-demo/template/assets/charts/stress_scenarios.png">    </p:cNvPr>
          <p:cNvPicPr>
            <a:picLocks noChangeAspect="1"/>
          </p:cNvPicPr>
          <p:nvPr/>
        </p:nvPicPr>
        <p:blipFill>
          <a:blip r:embed="rId2"/>
          <a:srcRect l="-31915" r="-31915" t="0" b="0"/>
          <a:stretch/>
        </p:blipFill>
        <p:spPr>
          <a:xfrm>
            <a:off x="320040" y="1783080"/>
            <a:ext cx="7040880" cy="42976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43800" y="178308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target is more resilient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772400" y="23317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drawdown scenario the house-view target loses less than the book today. The reason is diversification: the foreign-equity, gold and debt sleeves the plan adds are exactly what cushion a single-market equity shock. One scenario — a sharp INR depreciation — actually helps the target, because unhedged foreign assets gain in rupee terms.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772400" y="5120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Shocks applied to current vs target allocation using long-run asset-class assumptions; illustrative, not a forecast.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set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book sits against an efficient frontier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  <p:pic>
        <p:nvPicPr>
          <p:cNvPr id="9" name="Image 1" descr="/home/user/claude-demo/template/assets/charts/efficient_frontier.png">    </p:cNvPr>
          <p:cNvPicPr>
            <a:picLocks noChangeAspect="1"/>
          </p:cNvPicPr>
          <p:nvPr/>
        </p:nvPicPr>
        <p:blipFill>
          <a:blip r:embed="rId2"/>
          <a:srcRect l="-33333" r="-33333" t="0" b="0"/>
          <a:stretch/>
        </p:blipFill>
        <p:spPr>
          <a:xfrm>
            <a:off x="548640" y="1737360"/>
            <a:ext cx="731520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046720" y="2286000"/>
            <a:ext cx="3611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feasible asset-class mix; colour rises with reward-per-unit-risk, and the upper-left edge is the efficient frontier. Today (red) sits inside the frontier — too much single-basket equity risk for its return. The house-view target (green) steps left by adding international, gold and a debt cushion.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046720" y="55778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opportunity set from long-run capital-market assumptions, not a forecast.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projection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book could grow, and the goals it can fund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B27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00" dirty="0"/>
          </a:p>
        </p:txBody>
      </p:sp>
      <p:pic>
        <p:nvPicPr>
          <p:cNvPr id="9" name="Image 1" descr="/home/user/claude-demo/template/assets/charts/growth_cone.png">    </p:cNvPr>
          <p:cNvPicPr>
            <a:picLocks noChangeAspect="1"/>
          </p:cNvPicPr>
          <p:nvPr/>
        </p:nvPicPr>
        <p:blipFill>
          <a:blip r:embed="rId2"/>
          <a:srcRect l="-35417" r="-35417" t="0" b="0"/>
          <a:stretch/>
        </p:blipFill>
        <p:spPr>
          <a:xfrm>
            <a:off x="548640" y="1737360"/>
            <a:ext cx="74980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cone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0" y="228600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 assumed 11% return and 13% volatility, the book's central path roughly doubles in about seven years. The shaded band is the 10th–90th percentile of outcomes; real experience will vary. Dashed lines are illustrative goal corpora.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0" y="5394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lognormal projection, not a forecast.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371600" cy="2385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75520" y="3840480"/>
            <a:ext cx="3108960" cy="3108960"/>
          </a:xfrm>
          <a:prstGeom prst="donut">
            <a:avLst/>
          </a:prstGeom>
          <a:solidFill>
            <a:srgbClr val="F2A93C">
              <a:alpha val="1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UHNI family office: consolidation, governance and goal funding.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5216" y="436168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view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" y="468172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succession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5216" y="500176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910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funding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view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Office — ₹78.5 Cr across five entities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720072" y="38404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2A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UHNI · FAMILY OFFICE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00" dirty="0"/>
          </a:p>
        </p:txBody>
      </p:sp>
      <p:pic>
        <p:nvPicPr>
          <p:cNvPr id="9" name="Image 1" descr="/home/user/claude-demo/template/assets/charts/uhni_alloc.png">    </p:cNvPr>
          <p:cNvPicPr>
            <a:picLocks noChangeAspect="1"/>
          </p:cNvPicPr>
          <p:nvPr/>
        </p:nvPicPr>
        <p:blipFill>
          <a:blip r:embed="rId2"/>
          <a:srcRect l="-4348" r="-4348" t="0" b="0"/>
          <a:stretch/>
        </p:blipFill>
        <p:spPr>
          <a:xfrm>
            <a:off x="457200" y="1920240"/>
            <a:ext cx="4572000" cy="4206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entity</a:t>
            </a:r>
            <a:endParaRPr lang="en-US" sz="13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011680"/>
          <a:ext cx="6126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Private Trust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Discretionary — next-gen beneficiaries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AZBY Holdings HUF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Hindu Undivided 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Co. Treasury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Surplus treasury, promoter 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— Promoter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demat &amp; funds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— Spouse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demat &amp; funds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486400" y="50292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family-office review consolidates every entity into one look-through — the same scorecard and house-view discipline applied across trust, HUF, treasury and individual demats, with entity-level tax and governance layered on top.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succession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above the portfolio, for a multi-generational book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720072" y="38404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2A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UHNI · FAMILY OFFICE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7830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governance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423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IPS per entity, an annual asset-allocation review, and a documented rebalancing policy so decisions survive any single decision-maker.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7830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&amp; structure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46520" y="2423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HUF structures aligned to the family's succession intent; beneficiary classes, trustee powers and a letter of wishes reviewed with counsel.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39319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&amp; events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4572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liquidity ladder for the anticipated promoter event, with reinvestment sequenced into the house-view sleeves rather than deployed at once.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39319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Philanthropy &amp; legacy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46520" y="4572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endowment sleeve with its own spending policy, ring-fenced from the family corpus and reported separately.</a:t>
            </a:r>
            <a:endParaRPr lang="en-US" sz="1200" dirty="0"/>
          </a:p>
        </p:txBody>
      </p:sp>
      <p:pic>
        <p:nvPicPr>
          <p:cNvPr id="21" name="Image 1" descr="/home/user/claude-demo/template/assets/charts/uhni_goals.png">    </p:cNvPr>
          <p:cNvPicPr>
            <a:picLocks noChangeAspect="1"/>
          </p:cNvPicPr>
          <p:nvPr/>
        </p:nvPicPr>
        <p:blipFill>
          <a:blip r:embed="rId2"/>
          <a:srcRect l="-622222" r="-622222" t="0" b="0"/>
          <a:stretch/>
        </p:blipFill>
        <p:spPr>
          <a:xfrm>
            <a:off x="548640" y="5806440"/>
            <a:ext cx="1106424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funding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the corpus funds the family's goals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720072" y="38404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2A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UHNI · FAMILY OFFICE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00" dirty="0"/>
          </a:p>
        </p:txBody>
      </p:sp>
      <p:pic>
        <p:nvPicPr>
          <p:cNvPr id="9" name="Image 1" descr="/home/user/claude-demo/template/assets/charts/montecarlo_fan.png">    </p:cNvPr>
          <p:cNvPicPr>
            <a:picLocks noChangeAspect="1"/>
          </p:cNvPicPr>
          <p:nvPr/>
        </p:nvPicPr>
        <p:blipFill>
          <a:blip r:embed="rId2"/>
          <a:srcRect l="-35417" r="-35417" t="0" b="0"/>
          <a:stretch/>
        </p:blipFill>
        <p:spPr>
          <a:xfrm>
            <a:off x="548640" y="1737360"/>
            <a:ext cx="749808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fan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0" y="228600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faint line is one simulated path for the family corpus; the bold lines are the 10th, 50th and 90th percentiles. Against the illustrative goal, the probability of success is read where the paths clear the dashed line.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0" y="5440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Monte-Carlo simulation on long-run assumptions; not a forecast or a guarantee.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ladder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liquid assets to the family's planned outflows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720072" y="38404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2A9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UHNI · FAMILY OFFICE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00" dirty="0"/>
          </a:p>
        </p:txBody>
      </p:sp>
      <p:pic>
        <p:nvPicPr>
          <p:cNvPr id="9" name="Image 1" descr="/home/user/claude-demo/template/assets/charts/liquidity_ladder.png">    </p:cNvPr>
          <p:cNvPicPr>
            <a:picLocks noChangeAspect="1"/>
          </p:cNvPicPr>
          <p:nvPr/>
        </p:nvPicPr>
        <p:blipFill>
          <a:blip r:embed="rId2"/>
          <a:srcRect l="-34783" r="-34783" t="0" b="0"/>
          <a:stretch/>
        </p:blipFill>
        <p:spPr>
          <a:xfrm>
            <a:off x="365760" y="1783080"/>
            <a:ext cx="7132320" cy="4206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35240" y="1783080"/>
            <a:ext cx="4023360" cy="4114800"/>
          </a:xfrm>
          <a:prstGeom prst="roundRect">
            <a:avLst>
              <a:gd name="adj" fmla="val 1818"/>
            </a:avLst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6384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year to plan for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863840" y="23317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liquid assets cover planned outflows in every year except 2027, when the ₹25 Cr next-gen reinvestment lands. That is pre-funded from the anticipated promoter liquidity event and staged into the house-view sleeves over several quarters, rather than deployed in one tranche.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863840" y="5029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liquidity ladder is refreshed each review as goals and dates firm up.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371600" cy="2385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75520" y="3840480"/>
            <a:ext cx="3108960" cy="3108960"/>
          </a:xfrm>
          <a:prstGeom prst="donut">
            <a:avLst/>
          </a:prstGeom>
          <a:solidFill>
            <a:srgbClr val="F2A93C">
              <a:alpha val="1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chart library, the full registers, and the method.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5216" y="436168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library (templates ready for any client)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" y="468172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Direct-equity register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5216" y="500176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910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Mutual-fund register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85216" y="5321808"/>
            <a:ext cx="137160" cy="137160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230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basis of preparation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library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analytics — ready for any client, shown here on AZBY data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6642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glidepath</a:t>
            </a:r>
            <a:endParaRPr lang="en-US" sz="1200" dirty="0"/>
          </a:p>
        </p:txBody>
      </p:sp>
      <p:pic>
        <p:nvPicPr>
          <p:cNvPr id="10" name="Image 1" descr="/home/user/claude-demo/template/assets/charts/glidepath.png">    </p:cNvPr>
          <p:cNvPicPr>
            <a:picLocks noChangeAspect="1"/>
          </p:cNvPicPr>
          <p:nvPr/>
        </p:nvPicPr>
        <p:blipFill>
          <a:blip r:embed="rId2"/>
          <a:srcRect l="-84091" r="-84091" t="0" b="0"/>
          <a:stretch/>
        </p:blipFill>
        <p:spPr>
          <a:xfrm>
            <a:off x="502920" y="1920240"/>
            <a:ext cx="5394960" cy="2011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26480" y="16642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/ underwater</a:t>
            </a:r>
            <a:endParaRPr lang="en-US" sz="1200" dirty="0"/>
          </a:p>
        </p:txBody>
      </p:sp>
      <p:pic>
        <p:nvPicPr>
          <p:cNvPr id="12" name="Image 2" descr="/home/user/claude-demo/template/assets/charts/drawdown.png">    </p:cNvPr>
          <p:cNvPicPr>
            <a:picLocks noChangeAspect="1"/>
          </p:cNvPicPr>
          <p:nvPr/>
        </p:nvPicPr>
        <p:blipFill>
          <a:blip r:embed="rId3"/>
          <a:srcRect l="-84091" r="-84091" t="0" b="0"/>
          <a:stretch/>
        </p:blipFill>
        <p:spPr>
          <a:xfrm>
            <a:off x="6126480" y="1920240"/>
            <a:ext cx="5394960" cy="20116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" y="38587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Asset-class correlation</a:t>
            </a:r>
            <a:endParaRPr lang="en-US" sz="1200" dirty="0"/>
          </a:p>
        </p:txBody>
      </p:sp>
      <p:pic>
        <p:nvPicPr>
          <p:cNvPr id="14" name="Image 3" descr="/home/user/claude-demo/template/assets/charts/corr_heatmap.png">    </p:cNvPr>
          <p:cNvPicPr>
            <a:picLocks noChangeAspect="1"/>
          </p:cNvPicPr>
          <p:nvPr/>
        </p:nvPicPr>
        <p:blipFill>
          <a:blip r:embed="rId4"/>
          <a:srcRect l="-84091" r="-84091" t="0" b="0"/>
          <a:stretch/>
        </p:blipFill>
        <p:spPr>
          <a:xfrm>
            <a:off x="502920" y="4114800"/>
            <a:ext cx="5394960" cy="20116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26480" y="38587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Rolling-return consistency</a:t>
            </a:r>
            <a:endParaRPr lang="en-US" sz="1200" dirty="0"/>
          </a:p>
        </p:txBody>
      </p:sp>
      <p:pic>
        <p:nvPicPr>
          <p:cNvPr id="16" name="Image 4" descr="/home/user/claude-demo/template/assets/charts/rolling_consistency.png">    </p:cNvPr>
          <p:cNvPicPr>
            <a:picLocks noChangeAspect="1"/>
          </p:cNvPicPr>
          <p:nvPr/>
        </p:nvPicPr>
        <p:blipFill>
          <a:blip r:embed="rId5"/>
          <a:srcRect l="-84091" r="-84091" t="0" b="0"/>
          <a:stretch/>
        </p:blipFill>
        <p:spPr>
          <a:xfrm>
            <a:off x="6126480" y="4114800"/>
            <a:ext cx="5394960" cy="20116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292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template charts wired to the same data model — an advisor can drop any of them into a client review without rebuilding.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Direct-equity register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holding, every score, every call · 1 of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914400"/>
                <a:gridCol w="822960"/>
              </a:tblGrid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 Company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 Industries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Consultancy Svcs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Infosys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Bharti Airtel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Bank of India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Bajaj Finance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Larsen &amp; Toubro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Hindustan Unilever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Mahindra 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Maruti Suzuki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Pharma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UltraTech 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Asian Paints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Nestle India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914400"/>
                <a:gridCol w="822960"/>
              </a:tblGrid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Hindustan Aeronautics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Bharat Electronics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Adani Enterprises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Avenue Supermarts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NTPC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Pidilite Inds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Hindalco Industries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Power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India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Mahindra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HCL Technologies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Bajaj Auto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 MotoCorp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Grid Corp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Godrej Consumer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Dabur India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Coforge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Ionic Quant Scorecard. Sorted by weight.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Direct-equity register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holding, every score, every call · 2 of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914400"/>
                <a:gridCol w="822960"/>
              </a:tblGrid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Systems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Polycab India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Finance Corp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Samvardhana Motherson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Federal 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Depository Svcs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Age Mgmt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Financial Svcs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 Housing Finance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Consumer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Spirits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Colgate-Palmolive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Britannia Industries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Deepak Nitrite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914400"/>
                <a:gridCol w="822960"/>
              </a:tblGrid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Balrampur Chini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Exide Industries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Bharat Forge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Suzlon Energy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Kaynes 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Jubilant Foodworks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 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Financial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Varun Beverages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Mphasis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IRCTC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Dart Express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Supriya Lifescience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Syngene Intl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Lupin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 Industries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Ionic Quant Scorecard. Sorted by weight.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Mutual-fund register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scheme, category, plan and action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2194560"/>
                <a:gridCol w="1005840"/>
                <a:gridCol w="822960"/>
                <a:gridCol w="1280160"/>
                <a:gridCol w="1188720"/>
              </a:tblGrid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 vs bench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HSBC Small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HSBC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+6.2pp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 Parikh Flexi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PPFAS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Franklin Build India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Franklin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Thematic-Infra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India Multi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+9.4pp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7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Multi Asset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Prudential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Hybrid-Multi Asset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Arbitrage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Hybrid-Arbitrage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Motilal Oswal Midcap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Motilal Oswal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+13.5pp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Franklin Asian Equity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Franklin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Balanced Advantage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Hybrid-BAF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Invesco Global Consumer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Edelweiss US Tech FoF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Edelweiss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 Equity Savings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Hybrid-Equity Savings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ELSS Tax Saver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India Gold Savings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Commodity-Gold FoF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Flexicap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+13.1pp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Motilal Nifty500 Momentum 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Motilal Oswal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Index-Factor Momentum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 Nifty500 Value 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Index-Factor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Bandhan Small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Bandhan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Motilal BSE Enhanced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Motilal Oswal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Index-Factor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Multi Asset (Reg)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Prudential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Hybrid-Multi Asset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 Nifty200 Momentum 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Index-Factor Momentum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63550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client statement; QFRA fund NAV feed. Capture, consistency and hybrid risk metrics refreshed each quarter.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basis of preparation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numbers are built, and what they can and cannot say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Ionic Score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9659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0–100 cross-sectional composite of quality, valuation, growth and momentum pillars.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0.60 × 3-year + 0.40 × 1-year; a Sell triggers below 40, and the model never issues Buy.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each quarter on point-in-time data; a score can be stale or wrong, and is read alongside an analyst.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of preparation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17920" y="196596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illustrative template data for a fictional family; no real client is depicted.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capture, consistency and hybrid risk metrics are computed from the NAV feed at each quarterly refresh.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estimates cover the fund book until a demat trade file supplies equity acquisition lots and costs.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look-through (overlap) is pending each scheme's latest portfolio disclosure.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1280160" cy="2226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669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next steps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1208" y="1097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together from here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451592" y="3840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· CORE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AZBY Family · illustrative template · Ionic Wealth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8288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057400"/>
            <a:ext cx="566928" cy="566928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sign off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33756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order sheet together and confirm the actions you're comfortable with. Nothing is executed without your instruction.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91840" y="18288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0440" y="2057400"/>
            <a:ext cx="566928" cy="566928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16" name="Text 13"/>
          <p:cNvSpPr/>
          <p:nvPr/>
        </p:nvSpPr>
        <p:spPr>
          <a:xfrm>
            <a:off x="35204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52044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demat trade file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520440" y="333756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dates and costs per lot unlock the exact equity tax estimate and the harvest set — the one open data item.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80760" y="18288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0" y="2057400"/>
            <a:ext cx="566928" cy="566928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30936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Execute, tax-aware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09360" y="333756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sequence the sells and redeployment across two financial years to use both LTCG exemptions and stage entry.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869680" y="18288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98280" y="2057400"/>
            <a:ext cx="566928" cy="566928"/>
          </a:xfrm>
          <a:prstGeom prst="donut">
            <a:avLst/>
          </a:prstGeom>
          <a:solidFill>
            <a:srgbClr val="F2A93C"/>
          </a:solidFill>
          <a:ln/>
        </p:spPr>
      </p:sp>
      <p:sp>
        <p:nvSpPr>
          <p:cNvPr id="26" name="Text 23"/>
          <p:cNvSpPr/>
          <p:nvPr/>
        </p:nvSpPr>
        <p:spPr>
          <a:xfrm>
            <a:off x="90982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09828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refresh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098280" y="333756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rescore and rebalance-band checks via Ionic CoPilot; a full review each quarter, or sooner on a material change.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02920" y="5166360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16233B"/>
          </a:solidFill>
          <a:ln/>
        </p:spPr>
      </p:sp>
      <p:sp>
        <p:nvSpPr>
          <p:cNvPr id="30" name="Text 27"/>
          <p:cNvSpPr/>
          <p:nvPr/>
        </p:nvSpPr>
        <p:spPr>
          <a:xfrm>
            <a:off x="777240" y="51663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Ionic Wealth team   </a:t>
            </a:r>
            <a:pPr indent="0" marL="0">
              <a:buNone/>
            </a:pPr>
            <a:r>
              <a:rPr lang="en-US" sz="1200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manager · [name]   ·   [email]   ·   [direct line]      Review cadence: quarterly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-demo/template/assets/ioni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463040" cy="2544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011680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illustrative template built on fictional data (the “AZBY Family”) to design a standard portfolio-review deck; it depicts no real client and is not investment advice. In a live review, recommendations are Sell (including full Exit or, for a fund, Redeem), Switch, Trim or Hold on holdings already owned; the model does not issue Buy calls. Scores are model output on point-in-time data and can be wrong or stale. Past performance is not indicative of future results. Mutual fund investments are subject to market risk; read all scheme-related documents carefully. Tax treatment depends on individual circumstances and may change; consult a tax adviser before dealing.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WEALTH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  ·  Illustrative template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Ionic Wealth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Ionic Wealth</dc:creator>
  <cp:lastModifiedBy>Ionic Wealth</cp:lastModifiedBy>
  <cp:revision>1</cp:revision>
  <dcterms:created xsi:type="dcterms:W3CDTF">2026-07-24T13:53:03Z</dcterms:created>
  <dcterms:modified xsi:type="dcterms:W3CDTF">2026-07-24T13:53:03Z</dcterms:modified>
</cp:coreProperties>
</file>